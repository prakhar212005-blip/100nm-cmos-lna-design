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605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73152" cy="2011680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 Complementary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Inverter-Based Low Noise Amplifier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GPS L1 Band (1.575 GHz) in 100 nm CMOS Technology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  ·  Sudeep Sharma  ·  Pratik Shekhar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39776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Electrical Engineering, Manipal Institute of Technology (MIT)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Academy of Higher Education (MAHE), Manipal, Udupi, Karnataka 576104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IEEE-Style Technical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L1 carrier at 1.575 GHz — received signal as low as −130 dBm at antenna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LNA is the dominant noise contributor in the receive chain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LNA must simultaneously satisfy three competing requirements: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impedance matching to 50 Ω antenna system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gain to suppress downstream stage noise (Friis chain)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linearity to handle out-of-band interferers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solution: Inductive Source Degeneration (ISD) topology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 enables simultaneous noise and power matching via noiseless passive inductors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work: deliberate pedagogical constraint — NO LC matching networks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expose raw, intrinsic performance limits of a CMOS inverter in 50 Ω RF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F4F6F8"/>
          </a:solidFill>
          <a:ln w="254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431596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matching networks are not optional — they are fundamental to meeting GPS L1 specs.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CIRCUIT DESIGN &amp; METHODOLOGY  —  A. Topology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II-A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 core: PMOS transistor M3 + NMOS transistors M1 &amp; M2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as a complementary CMOS inverter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RF signal AC-coupled via C1 = 10 pF to common gate of M1 and M3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currents add constructively at output node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small-signal transconductance:  Gm = gmN + gmP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coupling: C2 = 1 µF passes RF to 50 Ω load (R1), blocks DC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LC matching elements: no Ls, no Lg, no cascode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417320"/>
            <a:ext cx="2926080" cy="347472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0" y="146304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SCHEMATIC OVERVIEW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7F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 (1.5 V)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[M3] PMOS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W=10µm  L=100nm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[M1] NMOS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W=100µm  L=100nm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←── OUT node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[M2] NMOS (bias)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W=100µm  L=100nm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C1(10pF) → Vin | C2(1µF) → RL(50Ω)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CIRCUIT DESIGN &amp; METHODOLOGY  —  B. Active Feedback Biasing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II-B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Without feedback, output voltage of CMOS inverter is highly PVT-sensitive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Ideal op-amp U1 configured as feedback comparator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non-inverting input → V3 = 0.75 V (= VDD/2)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inverting input monitors V(out)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Op-amp output drives gate of M2 (variable current source)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forces V(out) = VDD/2 at DC — maximises symmetric voltage swing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Operating Point Results (.op simulation)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201168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557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V(out)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867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 V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06040" y="3520440"/>
            <a:ext cx="201168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3557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(M1=M2=M3)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3867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0.5625 mA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3520440"/>
            <a:ext cx="201168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3557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 (total)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3867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 mA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03720" y="3520440"/>
            <a:ext cx="201168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3557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03720" y="3867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 mW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594360"/>
          </a:xfrm>
          <a:prstGeom prst="rect">
            <a:avLst/>
          </a:prstGeom>
          <a:solidFill>
            <a:srgbClr val="F4F6F8"/>
          </a:solidFill>
          <a:ln w="254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5262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op-amp bias achieves PVT-robust DC centering at VDD/2 — maximises linear dynamic range.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CIRCUIT DESIGN &amp; METHODOLOGY  —  C. Transistor Sizing Rationale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II-C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M1 &amp; M2: W = 100 µm, L = 100 nm  →  W/L = 1000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 NMOS transconductance  (KP_N = 200 µA/V²)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M3: W = 10 µm, L = 100 nm  →  W/L = 100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2:1 KP_N / KP_P ratio to equalise current-drive — prerequisite for DC centering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Transconductances @ Bias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gm1 = √(2 · KP_N · (W/L)₁ · ID)  ≈  15 mA/V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gm3 = √(2 · KP_P · (W/L)₃ · ID)  ≈  3.35 mA/V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Gm at 1.575 GHz  ≈  12.9 mA/V  (reduced by parasitic capacitances)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4F6F8"/>
          </a:solidFill>
          <a:ln w="254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43434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Parasitic CGSO, CGDO = 2×10⁻¹⁰ F/m and CJ = 4×10⁻⁴ F/m² reduce effective Gm from DC value to ~12.9 mA/V at RF.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SIMULATION RESULTS &amp; ANALYSIS  —  A. Forward Gain (S21)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III-A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simulation result:  S21 = −3.8 dB  at 1.575 GHz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design error — it is a mathematically inevitable outcome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high-impedance current source (rds1 ∥ rds3 ≫ 50 Ω) driving 50 Ω directly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intervening LC impedance transformer → severe power mismatch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response: −105° at 1 MHz → −182° at 1 GHz (inverting common-source + RC pole lag)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Gain: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|Av| = Gm · RL = 12.9×10⁻³ × 50 = 0.645 V/V = −3.8 dB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66160" y="3886200"/>
            <a:ext cx="201168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39227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(Gain)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4233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−3.8 dB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535424"/>
            <a:ext cx="8229600" cy="594360"/>
          </a:xfrm>
          <a:prstGeom prst="rect">
            <a:avLst/>
          </a:prstGeom>
          <a:solidFill>
            <a:srgbClr val="F4F6F8"/>
          </a:solidFill>
          <a:ln w="254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535424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LC matching, the CMOS inverter cannot deliver power efficiently to 50 Ω — fundamental physics.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SIMULATION RESULTS &amp; ANALYSIS  —  B. Input &amp; Output Reflection (S11, S22)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III-B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— Input Reflection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S11 ≈ 0 dB (flat across band)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reflection at input 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impedance is purely capacitive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 + CGDO + CGSO → several kΩ at 1.575 GHz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inductor Lg + Ls → cannot synthesise real 50 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|Γin| → 1  (complete mismatch)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444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— Output Reflection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82880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S22 peaks near 580 mdB at ~30 MHz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frequency-dependent op-amp loop phase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→ 0 dB at higher RF frequencies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bias loop opens → passive drain impedance dominates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matching network → unmatched high-impedance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SIMULATION RESULTS &amp; ANALYSIS  —  C. Reverse Isolation (S12)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III-C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reverse isolation: S12 ≈ −225 dB at 1.575 GHz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simulator's numerical floor — not a physical result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reverse transmission path in schematic: gate-drain overlap capacitance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CGDO ≈ 2×10⁻¹⁴ F  (for W = 100 µm)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admittance at 1.575 GHz:  Yfb = jωCGDO ≈ j0.2 µS  (extremely small)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implementation expectation: S12 = −30 to −50 dB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by substrate coupling and package parasitics in real layout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256032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968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(Simulated)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−225 dB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12080" y="3931920"/>
            <a:ext cx="256032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3968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(Physical Est.)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to −50 dB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SIMULATION RESULTS &amp; ANALYSIS  —  D. Noise Figure (NF)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III-D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simulation expression:  10·log₁₀(V(inoise)² / (4kTRs))  —  k=1.38×10⁻²³, T=290K, Rs=50Ω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at 1 MHz: ~23.5 dB  →  rolls off to ~11.5 dB in 100 MHz–1 GHz range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1: Thermal channel noise from M1 &amp; M3  (S_id = 4kTγgm)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2: Absence of source-degeneration inductor Ls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provides real input impedance without contributing noise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ISD LNA: simultaneously satisfies power match (|Γin|=0) and noise match (Ys=Yopt)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Ls: power and noise match conditions are irreconcilably separated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64992"/>
            <a:ext cx="8229600" cy="462937"/>
          </a:xfrm>
          <a:prstGeom prst="rect">
            <a:avLst/>
          </a:prstGeom>
          <a:solidFill>
            <a:srgbClr val="F4F6F8"/>
          </a:solidFill>
          <a:ln w="254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2278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Friis Noise Formula:  </a:t>
            </a:r>
            <a:r>
              <a:rPr lang="en-US" sz="14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 = NFmin + (Rn / Gs) · |Ys − Yopt|²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3867912"/>
            <a:ext cx="201168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@ 1.575 GHz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41833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dB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SIMULATION RESULTS &amp; ANALYSIS  —  E. Transient Response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III-E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simulation: 1.575 GHz sinusoidal input at 10 mV amplitude, 0–10 ns window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node V(n002) — green trace:  swings 740 mV to 760 mV  →  20 mVpp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V(out) — blue trace:  swings ~748 mV to ~752 mV  →  4 mVpp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gain:  |Av| ≈ 4/20 = 0.2 V/V  →  confirms −3.8 dB gain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180° phase-inverted relative to input (common-source inverter)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bias of 750 mV maintained perfectly throughout — confirms stable bias loop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Summary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739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(peak-peak)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050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mVpp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370332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3739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 (peak-peak)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4050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mVpp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62856" y="370332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62856" y="3739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Shift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62856" y="4050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 (inv.)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620256" y="370332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0256" y="3739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Bias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4050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mV 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PERFORMANCE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(Constrained) vs. Reference Cascode LNA with Full LC Matching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3063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 (Constrained)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Cascode LNA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nm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nm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(PDC)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 mW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9–15 mW (typ.)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S21 (Gain)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to +18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−10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−10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−225 dB (sim. floor)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−30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1.5–3.0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(constrained)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Lg, Ls, Ld, 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FB (op-amp)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resistive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PERFORMANCE COMPARISON  —  Analysis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advantage: 10–16× lower power dissipation (0.925 mW vs. 9–15 mW)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advantage is entirely offset by all RF performance metrics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of 11.5 dB vs. 1.5–3.0 dB: degrades receiver sensitivity by ~8–10 dB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NF of 1.5–3.0 dB enables the −130 dBm signal sensitivity required for GPS acquisition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deficiency of ~18–22 dB directly increases noise contribution of downstream stages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≈ 0 dB: all incident RF power is reflected — no power transfer to the LNA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matching networks provide more than impedance transformation: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simultaneously enable power gain, noise optimisation, and port matching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goals are physically unachievable without reactive elements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4F6F8"/>
          </a:solidFill>
          <a:ln w="254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43434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networks are not optional enhancements — they are fundamental prerequisites for GPS L1 front-end specifications.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8686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LNA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920240" cy="8686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nm CMOS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920240" cy="8686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1.575 GHz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(GPS L1)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143000"/>
            <a:ext cx="1920240" cy="8686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V / 0.925 mW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op-amp feedback bias achieves stable V(out) = 0.75 V DC operating point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= −3.8 dB, S11 ≈ 0 dB, S22 ≈ 0 dB, S12 ≈ −225 dB, NF = 11.5 dB — all physically consistent with unmatched 50 Ω system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simulation confirms stable 750 mV DC centering and 180° signal inversion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confirms: matching networks enable simultaneous power gain, noise opt., and port matching — unachievable without reactive elements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On-chip spiral inductors for Ls (source degeneration) and Lg (gate matching) to achieve S11 &lt; −10 dB and NF &lt; 3 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solidFill>
            <a:srgbClr val="1A7FA1"/>
          </a:solidFill>
          <a:ln w="12700">
            <a:solidFill>
              <a:srgbClr val="1A7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T. H. Lee and S. S. Wong, "CMOS RF Integrated Circuits at 5 GHz and Beyond," Proc. IEEE, vol. 88, no. 10, pp. 1560–1571, Oct. 2000.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D. K. Shaeffer and T. H. Lee, "A 1.5-V, 1.5-GHz CMOS Low Noise Amplifier," IEEE J. Solid-State Circuits, vol. 32, no. 5, pp. 745–759, May 1997.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B. Razavi, RF Microelectronics, 2nd ed. Prentice Hall, 2011, ch. 5–6.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T. H. Lee, The Design of CMOS Radio-Frequency Integrated Circuits, 2nd ed. Cambridge Univ. Press, 2004.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Analog Devices, LTspice XVII User Manual, 2023.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Prakhar Singh, Sudeep Sharma, Pratik Shekhar  |  MIT MAHE  | 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2129</Words>
  <Application>Microsoft Macintosh PowerPoint</Application>
  <PresentationFormat>On-screen Show (16:9)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LNA GPS L1 Band IEEE Presentation</dc:title>
  <dc:subject>PptxGenJS Presentation</dc:subject>
  <dc:creator>PptxGenJS</dc:creator>
  <cp:lastModifiedBy>Prakhar singh</cp:lastModifiedBy>
  <cp:revision>2</cp:revision>
  <dcterms:created xsi:type="dcterms:W3CDTF">2026-04-20T10:04:48Z</dcterms:created>
  <dcterms:modified xsi:type="dcterms:W3CDTF">2026-04-23T13:42:56Z</dcterms:modified>
</cp:coreProperties>
</file>